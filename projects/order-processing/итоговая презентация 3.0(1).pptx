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71" r:id="rId11"/>
    <p:sldId id="265" r:id="rId12"/>
    <p:sldId id="266" r:id="rId13"/>
    <p:sldId id="274" r:id="rId14"/>
    <p:sldId id="272" r:id="rId15"/>
    <p:sldId id="268" r:id="rId16"/>
    <p:sldId id="269" r:id="rId17"/>
  </p:sldIdLst>
  <p:sldSz cx="9144000" cy="5143500" type="screen16x9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Raleway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70"/>
    <p:restoredTop sz="94703"/>
  </p:normalViewPr>
  <p:slideViewPr>
    <p:cSldViewPr snapToGrid="0">
      <p:cViewPr>
        <p:scale>
          <a:sx n="135" d="100"/>
          <a:sy n="135" d="100"/>
        </p:scale>
        <p:origin x="896" y="7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746424ee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746424ee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6475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3200" dirty="0"/>
              <a:t>Оптимизация внутреннего процесса обработки заказов в компании онлайн-продаж </a:t>
            </a:r>
            <a:r>
              <a:rPr lang="ru-RU" sz="3200"/>
              <a:t>бытовых товаров</a:t>
            </a:r>
            <a:br>
              <a:rPr lang="ru-RU" sz="3200" dirty="0"/>
            </a:br>
            <a:endParaRPr sz="3200" dirty="0"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 проекта</a:t>
            </a:r>
            <a:endParaRPr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10901543-EE96-E9A9-27A4-859379723B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806346"/>
              </p:ext>
            </p:extLst>
          </p:nvPr>
        </p:nvGraphicFramePr>
        <p:xfrm>
          <a:off x="725850" y="1853850"/>
          <a:ext cx="7408881" cy="2927949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08416">
                  <a:extLst>
                    <a:ext uri="{9D8B030D-6E8A-4147-A177-3AD203B41FA5}">
                      <a16:colId xmlns:a16="http://schemas.microsoft.com/office/drawing/2014/main" val="689766209"/>
                    </a:ext>
                  </a:extLst>
                </a:gridCol>
                <a:gridCol w="1434455">
                  <a:extLst>
                    <a:ext uri="{9D8B030D-6E8A-4147-A177-3AD203B41FA5}">
                      <a16:colId xmlns:a16="http://schemas.microsoft.com/office/drawing/2014/main" val="2129563391"/>
                    </a:ext>
                  </a:extLst>
                </a:gridCol>
                <a:gridCol w="2221765">
                  <a:extLst>
                    <a:ext uri="{9D8B030D-6E8A-4147-A177-3AD203B41FA5}">
                      <a16:colId xmlns:a16="http://schemas.microsoft.com/office/drawing/2014/main" val="174144340"/>
                    </a:ext>
                  </a:extLst>
                </a:gridCol>
                <a:gridCol w="1337594">
                  <a:extLst>
                    <a:ext uri="{9D8B030D-6E8A-4147-A177-3AD203B41FA5}">
                      <a16:colId xmlns:a16="http://schemas.microsoft.com/office/drawing/2014/main" val="1841985323"/>
                    </a:ext>
                  </a:extLst>
                </a:gridCol>
                <a:gridCol w="2206651">
                  <a:extLst>
                    <a:ext uri="{9D8B030D-6E8A-4147-A177-3AD203B41FA5}">
                      <a16:colId xmlns:a16="http://schemas.microsoft.com/office/drawing/2014/main" val="2605837273"/>
                    </a:ext>
                  </a:extLst>
                </a:gridCol>
              </a:tblGrid>
              <a:tr h="250122"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№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 dirty="0">
                          <a:solidFill>
                            <a:schemeClr val="bg2"/>
                          </a:solidFill>
                          <a:effectLst/>
                        </a:rPr>
                        <a:t>Цель</a:t>
                      </a:r>
                      <a:endParaRPr lang="ru-RU" sz="10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KPI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AS IS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TO BE / критерий успеха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16920"/>
                  </a:ext>
                </a:extLst>
              </a:tr>
              <a:tr h="342683">
                <a:tc>
                  <a:txBody>
                    <a:bodyPr/>
                    <a:lstStyle/>
                    <a:p>
                      <a:pPr algn="ctr"/>
                      <a:r>
                        <a:rPr lang="ru-RU" sz="800" kern="100" dirty="0">
                          <a:solidFill>
                            <a:schemeClr val="bg2"/>
                          </a:solidFill>
                          <a:effectLst/>
                        </a:rPr>
                        <a:t>1</a:t>
                      </a:r>
                      <a:endParaRPr lang="ru-RU" sz="10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 dirty="0">
                          <a:solidFill>
                            <a:schemeClr val="bg2"/>
                          </a:solidFill>
                          <a:effectLst/>
                        </a:rPr>
                        <a:t>Сократить время обработки заказа</a:t>
                      </a:r>
                      <a:endParaRPr lang="ru-RU" sz="10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 dirty="0">
                          <a:solidFill>
                            <a:schemeClr val="bg2"/>
                          </a:solidFill>
                          <a:effectLst/>
                        </a:rPr>
                        <a:t>Среднее время от оформления до передачи в доставку</a:t>
                      </a:r>
                      <a:endParaRPr lang="ru-RU" sz="10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 dirty="0">
                          <a:solidFill>
                            <a:schemeClr val="bg2"/>
                          </a:solidFill>
                          <a:effectLst/>
                        </a:rPr>
                        <a:t>3–4 дня</a:t>
                      </a:r>
                      <a:endParaRPr lang="ru-RU" sz="10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≤ 1,5 дня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9419828"/>
                  </a:ext>
                </a:extLst>
              </a:tr>
              <a:tr h="415140"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2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Снизить количество ошибок сотрудников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Доля заказов с ошибками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 dirty="0">
                          <a:solidFill>
                            <a:schemeClr val="bg2"/>
                          </a:solidFill>
                          <a:effectLst/>
                        </a:rPr>
                        <a:t>10–12%</a:t>
                      </a:r>
                      <a:endParaRPr lang="ru-RU" sz="10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снижение минимум на 30%; целевой ориентир — около 6%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156287"/>
                  </a:ext>
                </a:extLst>
              </a:tr>
              <a:tr h="392965"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3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Снизить возвраты и отмены по внутренним причинам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Доля возвратов и отмен из-за внутренних ошибок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 dirty="0">
                          <a:solidFill>
                            <a:schemeClr val="bg2"/>
                          </a:solidFill>
                          <a:effectLst/>
                        </a:rPr>
                        <a:t>2–3%</a:t>
                      </a:r>
                      <a:endParaRPr lang="ru-RU" sz="10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снижение минимум на 30%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11501"/>
                  </a:ext>
                </a:extLst>
              </a:tr>
              <a:tr h="494643"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4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Повысить прозрачность процесса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Наличие актуального статуса, ответственного и информации о проблеме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Нет единого сквозного контроля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Актуальная информация доступна всем ключевым участникам процесса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220978"/>
                  </a:ext>
                </a:extLst>
              </a:tr>
              <a:tr h="408080"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5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Снизить ручные операции и дублирование данных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Количество ручных операций между системами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Высокое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Автоматическая/полуавтоматическая передача ключевых данных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6565355"/>
                  </a:ext>
                </a:extLst>
              </a:tr>
              <a:tr h="506344"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6</a:t>
                      </a:r>
                      <a:endParaRPr lang="ru-RU" sz="10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 dirty="0">
                          <a:solidFill>
                            <a:schemeClr val="bg2"/>
                          </a:solidFill>
                          <a:effectLst/>
                        </a:rPr>
                        <a:t>Повысить управляемость процесса </a:t>
                      </a:r>
                      <a:endParaRPr lang="ru-RU" sz="10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 dirty="0">
                          <a:solidFill>
                            <a:schemeClr val="bg2"/>
                          </a:solidFill>
                          <a:effectLst/>
                        </a:rPr>
                        <a:t>Частота получения руководителями актуальных базовых показателей</a:t>
                      </a:r>
                      <a:endParaRPr lang="ru-RU" sz="10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 dirty="0">
                          <a:solidFill>
                            <a:schemeClr val="bg2"/>
                          </a:solidFill>
                          <a:effectLst/>
                        </a:rPr>
                        <a:t>Руководители получают выгрузку раз в неделю </a:t>
                      </a:r>
                      <a:endParaRPr lang="ru-RU" sz="10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 dirty="0">
                          <a:solidFill>
                            <a:schemeClr val="bg2"/>
                          </a:solidFill>
                          <a:effectLst/>
                        </a:rPr>
                        <a:t>Руководители видят базовые показатели ежедневно </a:t>
                      </a:r>
                      <a:endParaRPr lang="ru-RU" sz="10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508" marR="91508" marT="61005" marB="6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0182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D3F64E-613B-B0DF-D2BB-7F92625EA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Критерии успешности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746559-33EB-A36A-2F66-4DB3AE564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среднее время обработки заказа сокращено до 1,5 дня или менее;</a:t>
            </a:r>
          </a:p>
          <a:p>
            <a:r>
              <a:rPr lang="ru-RU" dirty="0"/>
              <a:t>количество ошибок сотрудников снижено минимум на 30%;</a:t>
            </a:r>
          </a:p>
          <a:p>
            <a:r>
              <a:rPr lang="ru-RU" dirty="0"/>
              <a:t>возвраты и отмены по внутренним причинам сокращены минимум на 30%;</a:t>
            </a:r>
          </a:p>
          <a:p>
            <a:r>
              <a:rPr lang="ru-RU" dirty="0"/>
              <a:t>по заказу можно определить актуальный статус и ответственного;</a:t>
            </a:r>
          </a:p>
          <a:p>
            <a:r>
              <a:rPr lang="ru-RU" dirty="0"/>
              <a:t>остатки, резервы, статусы, оплаты и возвраты передаются между </a:t>
            </a:r>
            <a:r>
              <a:rPr lang="en" dirty="0"/>
              <a:t>Bitrix24 </a:t>
            </a:r>
            <a:r>
              <a:rPr lang="ru-RU" dirty="0"/>
              <a:t>и 1С автоматически либо полуавтоматически;</a:t>
            </a:r>
          </a:p>
          <a:p>
            <a:r>
              <a:rPr lang="ru-RU" dirty="0"/>
              <a:t>сокращается необходимость дублирования данных в </a:t>
            </a:r>
            <a:r>
              <a:rPr lang="en" dirty="0"/>
              <a:t>Excel, </a:t>
            </a:r>
            <a:r>
              <a:rPr lang="ru-RU" dirty="0"/>
              <a:t>электронной почте и чатах.</a:t>
            </a:r>
          </a:p>
        </p:txBody>
      </p:sp>
    </p:spTree>
    <p:extLst>
      <p:ext uri="{BB962C8B-B14F-4D97-AF65-F5344CB8AC3E}">
        <p14:creationId xmlns:p14="http://schemas.microsoft.com/office/powerpoint/2010/main" val="245830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19C17A-1391-3ECF-D143-368EC67C8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Роли и участники процесса</a:t>
            </a:r>
            <a:r>
              <a:rPr lang="en-US" dirty="0"/>
              <a:t> </a:t>
            </a:r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CC33DC-07CC-09F4-6B10-8EDADC32E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428579"/>
              </p:ext>
            </p:extLst>
          </p:nvPr>
        </p:nvGraphicFramePr>
        <p:xfrm>
          <a:off x="113355" y="1889435"/>
          <a:ext cx="8917289" cy="280043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78744">
                  <a:extLst>
                    <a:ext uri="{9D8B030D-6E8A-4147-A177-3AD203B41FA5}">
                      <a16:colId xmlns:a16="http://schemas.microsoft.com/office/drawing/2014/main" val="1819007104"/>
                    </a:ext>
                  </a:extLst>
                </a:gridCol>
                <a:gridCol w="1442129">
                  <a:extLst>
                    <a:ext uri="{9D8B030D-6E8A-4147-A177-3AD203B41FA5}">
                      <a16:colId xmlns:a16="http://schemas.microsoft.com/office/drawing/2014/main" val="3361562391"/>
                    </a:ext>
                  </a:extLst>
                </a:gridCol>
                <a:gridCol w="3469992">
                  <a:extLst>
                    <a:ext uri="{9D8B030D-6E8A-4147-A177-3AD203B41FA5}">
                      <a16:colId xmlns:a16="http://schemas.microsoft.com/office/drawing/2014/main" val="4130026373"/>
                    </a:ext>
                  </a:extLst>
                </a:gridCol>
                <a:gridCol w="2726424">
                  <a:extLst>
                    <a:ext uri="{9D8B030D-6E8A-4147-A177-3AD203B41FA5}">
                      <a16:colId xmlns:a16="http://schemas.microsoft.com/office/drawing/2014/main" val="4250487197"/>
                    </a:ext>
                  </a:extLst>
                </a:gridCol>
              </a:tblGrid>
              <a:tr h="203348">
                <a:tc>
                  <a:txBody>
                    <a:bodyPr/>
                    <a:lstStyle/>
                    <a:p>
                      <a:pPr algn="ctr"/>
                      <a:r>
                        <a:rPr lang="ru-RU" sz="800" b="1" kern="100" dirty="0">
                          <a:solidFill>
                            <a:schemeClr val="bg2"/>
                          </a:solidFill>
                          <a:effectLst/>
                        </a:rPr>
                        <a:t>Участник</a:t>
                      </a:r>
                      <a:endParaRPr lang="ru-RU" sz="900" b="1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b="1" kern="100" dirty="0">
                          <a:solidFill>
                            <a:schemeClr val="bg2"/>
                          </a:solidFill>
                          <a:effectLst/>
                        </a:rPr>
                        <a:t>Роль в процессе</a:t>
                      </a:r>
                      <a:endParaRPr lang="ru-RU" sz="900" b="1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b="1" kern="100" dirty="0">
                          <a:solidFill>
                            <a:schemeClr val="bg2"/>
                          </a:solidFill>
                          <a:effectLst/>
                        </a:rPr>
                        <a:t>Основные действия</a:t>
                      </a:r>
                      <a:endParaRPr lang="ru-RU" sz="900" b="1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b="1" kern="100" dirty="0">
                          <a:solidFill>
                            <a:schemeClr val="bg2"/>
                          </a:solidFill>
                          <a:effectLst/>
                        </a:rPr>
                        <a:t>Системы и каналы</a:t>
                      </a:r>
                      <a:endParaRPr lang="ru-RU" sz="900" b="1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3447402"/>
                  </a:ext>
                </a:extLst>
              </a:tr>
              <a:tr h="216122">
                <a:tc>
                  <a:txBody>
                    <a:bodyPr/>
                    <a:lstStyle/>
                    <a:p>
                      <a:pPr algn="ctr"/>
                      <a:r>
                        <a:rPr lang="ru-RU" sz="800" b="1" kern="100" dirty="0">
                          <a:solidFill>
                            <a:schemeClr val="bg2"/>
                          </a:solidFill>
                          <a:effectLst/>
                        </a:rPr>
                        <a:t>Клиент</a:t>
                      </a:r>
                      <a:endParaRPr lang="ru-RU" sz="900" b="1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 dirty="0">
                          <a:solidFill>
                            <a:schemeClr val="bg2"/>
                          </a:solidFill>
                          <a:effectLst/>
                        </a:rPr>
                        <a:t>Инициатор заказа</a:t>
                      </a:r>
                      <a:endParaRPr lang="ru-RU" sz="9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Оформляет заказ на сайте, подтверждает данные заказа</a:t>
                      </a:r>
                      <a:endParaRPr lang="ru-RU" sz="9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Сайт, телефон</a:t>
                      </a:r>
                      <a:endParaRPr lang="ru-RU" sz="9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4575059"/>
                  </a:ext>
                </a:extLst>
              </a:tr>
              <a:tr h="498764">
                <a:tc>
                  <a:txBody>
                    <a:bodyPr/>
                    <a:lstStyle/>
                    <a:p>
                      <a:pPr algn="ctr"/>
                      <a:r>
                        <a:rPr lang="ru-RU" sz="800" b="1" kern="100" dirty="0">
                          <a:solidFill>
                            <a:schemeClr val="bg2"/>
                          </a:solidFill>
                          <a:effectLst/>
                        </a:rPr>
                        <a:t>Менеджер отдела продаж</a:t>
                      </a:r>
                      <a:endParaRPr lang="ru-RU" sz="900" b="1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 dirty="0">
                          <a:solidFill>
                            <a:schemeClr val="bg2"/>
                          </a:solidFill>
                          <a:effectLst/>
                        </a:rPr>
                        <a:t>Основной исполнитель и координатор обработки заказа</a:t>
                      </a:r>
                      <a:endParaRPr lang="ru-RU" sz="9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 dirty="0">
                          <a:solidFill>
                            <a:schemeClr val="bg2"/>
                          </a:solidFill>
                          <a:effectLst/>
                        </a:rPr>
                        <a:t>Принимает заказ, проверяет контактные данные и наличие товара, подтверждает заказ, переносит номер в Excel, контролирует сборку, взаимодействует с курьерской службой, обновляет статус заказа</a:t>
                      </a:r>
                      <a:endParaRPr lang="ru-RU" sz="9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 dirty="0">
                          <a:solidFill>
                            <a:schemeClr val="bg2"/>
                          </a:solidFill>
                          <a:effectLst/>
                        </a:rPr>
                        <a:t>Bitrix24, Excel, телефон, корпоративный </a:t>
                      </a:r>
                      <a:r>
                        <a:rPr lang="ru-RU" sz="800" kern="100" dirty="0" err="1">
                          <a:solidFill>
                            <a:schemeClr val="bg2"/>
                          </a:solidFill>
                          <a:effectLst/>
                        </a:rPr>
                        <a:t>Telegram</a:t>
                      </a:r>
                      <a:r>
                        <a:rPr lang="ru-RU" sz="800" kern="100" dirty="0">
                          <a:solidFill>
                            <a:schemeClr val="bg2"/>
                          </a:solidFill>
                          <a:effectLst/>
                        </a:rPr>
                        <a:t>-чат «Склад», </a:t>
                      </a:r>
                      <a:r>
                        <a:rPr lang="ru-RU" sz="800" kern="100" dirty="0" err="1">
                          <a:solidFill>
                            <a:schemeClr val="bg2"/>
                          </a:solidFill>
                          <a:effectLst/>
                        </a:rPr>
                        <a:t>e-mail</a:t>
                      </a:r>
                      <a:endParaRPr lang="ru-RU" sz="9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756576"/>
                  </a:ext>
                </a:extLst>
              </a:tr>
              <a:tr h="385408">
                <a:tc>
                  <a:txBody>
                    <a:bodyPr/>
                    <a:lstStyle/>
                    <a:p>
                      <a:pPr algn="ctr"/>
                      <a:r>
                        <a:rPr lang="ru-RU" sz="800" b="1" kern="100" dirty="0">
                          <a:solidFill>
                            <a:schemeClr val="bg2"/>
                          </a:solidFill>
                          <a:effectLst/>
                        </a:rPr>
                        <a:t>Служба комплектации / кладовщики</a:t>
                      </a:r>
                      <a:endParaRPr lang="ru-RU" sz="900" b="1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Исполнитель складского этапа</a:t>
                      </a:r>
                      <a:endParaRPr lang="ru-RU" sz="9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Проверяют наличие товара, резервируют и собирают заказ, отмечают готовность, списывают товар</a:t>
                      </a:r>
                      <a:endParaRPr lang="ru-RU" sz="9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Excel, 1С, корпоративный Telegram-чат «Склад», телефон</a:t>
                      </a:r>
                      <a:endParaRPr lang="ru-RU" sz="9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2255914"/>
                  </a:ext>
                </a:extLst>
              </a:tr>
              <a:tr h="355180">
                <a:tc>
                  <a:txBody>
                    <a:bodyPr/>
                    <a:lstStyle/>
                    <a:p>
                      <a:pPr algn="ctr"/>
                      <a:r>
                        <a:rPr lang="ru-RU" sz="800" b="1" kern="100" dirty="0">
                          <a:solidFill>
                            <a:schemeClr val="bg2"/>
                          </a:solidFill>
                          <a:effectLst/>
                        </a:rPr>
                        <a:t>Логисты</a:t>
                      </a:r>
                      <a:endParaRPr lang="ru-RU" sz="900" b="1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Организатор доставки</a:t>
                      </a:r>
                      <a:endParaRPr lang="ru-RU" sz="9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Выбирают склад для отправки, заносят заказ в свою таблицу, организуют доставку, взаимодействуют с курьерской службой</a:t>
                      </a:r>
                      <a:endParaRPr lang="ru-RU" sz="9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Excel, e-mail, телефон, веб-кабинет курьерской службы</a:t>
                      </a:r>
                      <a:endParaRPr lang="ru-RU" sz="9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140091"/>
                  </a:ext>
                </a:extLst>
              </a:tr>
              <a:tr h="355745">
                <a:tc>
                  <a:txBody>
                    <a:bodyPr/>
                    <a:lstStyle/>
                    <a:p>
                      <a:pPr algn="ctr"/>
                      <a:r>
                        <a:rPr lang="ru-RU" sz="800" b="1" kern="100" dirty="0">
                          <a:solidFill>
                            <a:schemeClr val="bg2"/>
                          </a:solidFill>
                          <a:effectLst/>
                        </a:rPr>
                        <a:t>Курьерская служба</a:t>
                      </a:r>
                      <a:endParaRPr lang="ru-RU" sz="900" b="1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Исполнитель доставки</a:t>
                      </a:r>
                      <a:endParaRPr lang="ru-RU" sz="9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Получает информацию о заказе, забирает заказ, подписывает акт, доставляет заказ клиенту</a:t>
                      </a:r>
                      <a:endParaRPr lang="ru-RU" sz="9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Собственный веб-кабинет, бумажный акт</a:t>
                      </a:r>
                      <a:endParaRPr lang="ru-RU" sz="9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6890764"/>
                  </a:ext>
                </a:extLst>
              </a:tr>
              <a:tr h="320975">
                <a:tc>
                  <a:txBody>
                    <a:bodyPr/>
                    <a:lstStyle/>
                    <a:p>
                      <a:pPr algn="ctr"/>
                      <a:r>
                        <a:rPr lang="ru-RU" sz="800" b="1" kern="100" dirty="0">
                          <a:solidFill>
                            <a:schemeClr val="bg2"/>
                          </a:solidFill>
                          <a:effectLst/>
                        </a:rPr>
                        <a:t>Бухгалтерия</a:t>
                      </a:r>
                      <a:endParaRPr lang="ru-RU" sz="900" b="1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Участник финансового этапа</a:t>
                      </a:r>
                      <a:endParaRPr lang="ru-RU" sz="9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Сверяет оплаты, обрабатывает возвраты</a:t>
                      </a:r>
                      <a:endParaRPr lang="ru-RU" sz="9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1С, банковский клиент, Bitrix24</a:t>
                      </a:r>
                      <a:endParaRPr lang="ru-RU" sz="9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19567"/>
                  </a:ext>
                </a:extLst>
              </a:tr>
              <a:tr h="445753">
                <a:tc>
                  <a:txBody>
                    <a:bodyPr/>
                    <a:lstStyle/>
                    <a:p>
                      <a:pPr algn="ctr"/>
                      <a:r>
                        <a:rPr lang="ru-RU" sz="800" b="1" kern="100" dirty="0">
                          <a:solidFill>
                            <a:schemeClr val="bg2"/>
                          </a:solidFill>
                          <a:effectLst/>
                        </a:rPr>
                        <a:t>Руководитель / отдел продаж</a:t>
                      </a:r>
                      <a:endParaRPr lang="ru-RU" sz="900" b="1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Контролирующая роль</a:t>
                      </a:r>
                      <a:endParaRPr lang="ru-RU" sz="9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>
                          <a:solidFill>
                            <a:schemeClr val="bg2"/>
                          </a:solidFill>
                          <a:effectLst/>
                        </a:rPr>
                        <a:t>Контролирует процесс, анализирует показатели, обрабатывает обращения клиентов</a:t>
                      </a:r>
                      <a:endParaRPr lang="ru-RU" sz="9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kern="100" dirty="0">
                          <a:solidFill>
                            <a:schemeClr val="bg2"/>
                          </a:solidFill>
                          <a:effectLst/>
                        </a:rPr>
                        <a:t>Bitrix24, Power BI</a:t>
                      </a:r>
                      <a:endParaRPr lang="ru-RU" sz="9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38" marR="66638" marT="44425" marB="44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199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603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E54B2A-98A7-CE81-85BA-5CD22FC7F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 IS</a:t>
            </a:r>
            <a:endParaRPr lang="ru-RU" dirty="0"/>
          </a:p>
        </p:txBody>
      </p:sp>
      <p:pic>
        <p:nvPicPr>
          <p:cNvPr id="9" name="Рисунок 8" descr="Изображение выглядит как чек, текст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06CC66BA-9DB9-6BFA-E478-D43943ED0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81" y="1745189"/>
            <a:ext cx="7772400" cy="308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821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7E215D-1969-55F0-A3FA-BC2D07C17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Критические точки </a:t>
            </a:r>
            <a:r>
              <a:rPr lang="en-US" dirty="0"/>
              <a:t>AS IS 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583536-D064-1A0B-4340-47B7B1602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" dirty="0"/>
              <a:t>Bitrix24 </a:t>
            </a:r>
            <a:r>
              <a:rPr lang="ru-RU" dirty="0"/>
              <a:t>–</a:t>
            </a:r>
            <a:r>
              <a:rPr lang="en" dirty="0"/>
              <a:t> Excel</a:t>
            </a:r>
            <a:r>
              <a:rPr lang="ru-RU" dirty="0"/>
              <a:t>:</a:t>
            </a:r>
            <a:r>
              <a:rPr lang="en" dirty="0"/>
              <a:t> </a:t>
            </a:r>
            <a:r>
              <a:rPr lang="ru-RU" dirty="0"/>
              <a:t>ручное копирование данных заказа (2 мин);</a:t>
            </a:r>
          </a:p>
          <a:p>
            <a:r>
              <a:rPr lang="ru-RU" dirty="0"/>
              <a:t>1С - </a:t>
            </a:r>
            <a:r>
              <a:rPr lang="en" dirty="0"/>
              <a:t>Bitrix24</a:t>
            </a:r>
            <a:r>
              <a:rPr lang="ru-RU" dirty="0"/>
              <a:t>:</a:t>
            </a:r>
            <a:r>
              <a:rPr lang="en" dirty="0"/>
              <a:t> </a:t>
            </a:r>
            <a:r>
              <a:rPr lang="ru-RU" dirty="0"/>
              <a:t>риск возникновения ошибки в заказе из-за несвоевременного обновления остатков (30 мин – 1 час);</a:t>
            </a:r>
          </a:p>
          <a:p>
            <a:r>
              <a:rPr lang="en" dirty="0"/>
              <a:t>Excel </a:t>
            </a:r>
            <a:r>
              <a:rPr lang="ru-RU" dirty="0"/>
              <a:t>–</a:t>
            </a:r>
            <a:r>
              <a:rPr lang="en" dirty="0"/>
              <a:t> </a:t>
            </a:r>
            <a:r>
              <a:rPr lang="ru-RU" dirty="0"/>
              <a:t>Склад: складской работник работает только с утренней выгрузкой заказов на сборку (до 70 заказов в день);</a:t>
            </a:r>
          </a:p>
          <a:p>
            <a:r>
              <a:rPr lang="ru-RU" dirty="0"/>
              <a:t>Склад – Курьерская служба: нет автоматического выбора склада, заказ доставляется день-в-день, только при условии собранности заказа до 17:00( связь с курьерской службой </a:t>
            </a:r>
            <a:r>
              <a:rPr lang="en-US" dirty="0"/>
              <a:t>~10 </a:t>
            </a:r>
            <a:r>
              <a:rPr lang="ru-RU" dirty="0"/>
              <a:t>мин);</a:t>
            </a:r>
          </a:p>
          <a:p>
            <a:r>
              <a:rPr lang="ru-RU" dirty="0"/>
              <a:t>Менеджер - Курьерская служба: ручная передача акта по заказу (конец рабочего дня);</a:t>
            </a:r>
          </a:p>
          <a:p>
            <a:r>
              <a:rPr lang="ru-RU" dirty="0"/>
              <a:t>Курьерская служба - </a:t>
            </a:r>
            <a:r>
              <a:rPr lang="en" dirty="0"/>
              <a:t>Bitrix24</a:t>
            </a:r>
            <a:r>
              <a:rPr lang="ru-RU" dirty="0"/>
              <a:t>: так как статус отгружено ставит менеджер после получения бумажного акта от курьера происходит задержка в обновлении статуса доставки (ручная обработка).</a:t>
            </a:r>
          </a:p>
        </p:txBody>
      </p:sp>
    </p:spTree>
    <p:extLst>
      <p:ext uri="{BB962C8B-B14F-4D97-AF65-F5344CB8AC3E}">
        <p14:creationId xmlns:p14="http://schemas.microsoft.com/office/powerpoint/2010/main" val="2310592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1FDC25-FCC0-02BE-3ACB-58A06FA9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Боли участников и ручные операции 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871B4D4D-4EFB-7945-2D58-D0E45C02D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619381"/>
              </p:ext>
            </p:extLst>
          </p:nvPr>
        </p:nvGraphicFramePr>
        <p:xfrm>
          <a:off x="391758" y="2051970"/>
          <a:ext cx="8026392" cy="2270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23336">
                  <a:extLst>
                    <a:ext uri="{9D8B030D-6E8A-4147-A177-3AD203B41FA5}">
                      <a16:colId xmlns:a16="http://schemas.microsoft.com/office/drawing/2014/main" val="3682503787"/>
                    </a:ext>
                  </a:extLst>
                </a:gridCol>
                <a:gridCol w="3436620">
                  <a:extLst>
                    <a:ext uri="{9D8B030D-6E8A-4147-A177-3AD203B41FA5}">
                      <a16:colId xmlns:a16="http://schemas.microsoft.com/office/drawing/2014/main" val="3110537141"/>
                    </a:ext>
                  </a:extLst>
                </a:gridCol>
                <a:gridCol w="3266436">
                  <a:extLst>
                    <a:ext uri="{9D8B030D-6E8A-4147-A177-3AD203B41FA5}">
                      <a16:colId xmlns:a16="http://schemas.microsoft.com/office/drawing/2014/main" val="4131461883"/>
                    </a:ext>
                  </a:extLst>
                </a:gridCol>
              </a:tblGrid>
              <a:tr h="264510">
                <a:tc>
                  <a:txBody>
                    <a:bodyPr/>
                    <a:lstStyle/>
                    <a:p>
                      <a:r>
                        <a:rPr lang="ru-RU" sz="900" b="1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Участник</a:t>
                      </a:r>
                      <a:endParaRPr lang="ru-RU" sz="900" b="1" kern="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657" marR="107657" marT="71771" marB="71771" anchor="ctr"/>
                </a:tc>
                <a:tc>
                  <a:txBody>
                    <a:bodyPr/>
                    <a:lstStyle/>
                    <a:p>
                      <a:r>
                        <a:rPr lang="ru-RU" sz="900" b="1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Основная боль</a:t>
                      </a:r>
                      <a:endParaRPr lang="ru-RU" sz="900" b="1" kern="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657" marR="107657" marT="71771" marB="71771" anchor="ctr"/>
                </a:tc>
                <a:tc>
                  <a:txBody>
                    <a:bodyPr/>
                    <a:lstStyle/>
                    <a:p>
                      <a:r>
                        <a:rPr lang="ru-RU" sz="900" b="1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Ручные операции</a:t>
                      </a:r>
                      <a:endParaRPr lang="ru-RU" sz="900" b="1" kern="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657" marR="107657" marT="71771" marB="71771" anchor="ctr"/>
                </a:tc>
                <a:extLst>
                  <a:ext uri="{0D108BD9-81ED-4DB2-BD59-A6C34878D82A}">
                    <a16:rowId xmlns:a16="http://schemas.microsoft.com/office/drawing/2014/main" val="749147183"/>
                  </a:ext>
                </a:extLst>
              </a:tr>
              <a:tr h="448628">
                <a:tc>
                  <a:txBody>
                    <a:bodyPr/>
                    <a:lstStyle/>
                    <a:p>
                      <a:r>
                        <a:rPr lang="ru-RU" sz="900" b="1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Менеджер</a:t>
                      </a:r>
                      <a:endParaRPr lang="ru-RU" sz="900" b="1" kern="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657" marR="107657" marT="71771" marB="71771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solidFill>
                            <a:sysClr val="windowText" lastClr="000000"/>
                          </a:solidFill>
                          <a:effectLst/>
                        </a:rPr>
                        <a:t>Дублирование данных и необходимость самостоятельно искать статус заказа</a:t>
                      </a:r>
                      <a:endParaRPr lang="ru-RU" sz="900" kern="1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657" marR="107657" marT="71771" marB="71771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solidFill>
                            <a:sysClr val="windowText" lastClr="000000"/>
                          </a:solidFill>
                          <a:effectLst/>
                        </a:rPr>
                        <a:t>Копирование заказа в Excel; отправка накладной; сканирование акта; обновление статуса</a:t>
                      </a:r>
                      <a:endParaRPr lang="ru-RU" sz="900" kern="1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657" marR="107657" marT="71771" marB="71771" anchor="ctr"/>
                </a:tc>
                <a:extLst>
                  <a:ext uri="{0D108BD9-81ED-4DB2-BD59-A6C34878D82A}">
                    <a16:rowId xmlns:a16="http://schemas.microsoft.com/office/drawing/2014/main" val="5547088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ru-RU" sz="900" b="1" kern="100">
                          <a:solidFill>
                            <a:sysClr val="windowText" lastClr="000000"/>
                          </a:solidFill>
                          <a:effectLst/>
                        </a:rPr>
                        <a:t>Склад</a:t>
                      </a:r>
                      <a:endParaRPr lang="ru-RU" sz="900" b="1" kern="1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657" marR="107657" marT="71771" marB="71771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Большая очередь заказов и отсутствие приоритетов</a:t>
                      </a:r>
                      <a:endParaRPr lang="ru-RU" sz="900" kern="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657" marR="107657" marT="71771" marB="71771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solidFill>
                            <a:sysClr val="windowText" lastClr="000000"/>
                          </a:solidFill>
                          <a:effectLst/>
                        </a:rPr>
                        <a:t>Фильтрация Excel; отметка «Собрано»</a:t>
                      </a:r>
                      <a:endParaRPr lang="ru-RU" sz="900" kern="1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657" marR="107657" marT="71771" marB="71771" anchor="ctr"/>
                </a:tc>
                <a:extLst>
                  <a:ext uri="{0D108BD9-81ED-4DB2-BD59-A6C34878D82A}">
                    <a16:rowId xmlns:a16="http://schemas.microsoft.com/office/drawing/2014/main" val="3265721428"/>
                  </a:ext>
                </a:extLst>
              </a:tr>
              <a:tr h="321278">
                <a:tc>
                  <a:txBody>
                    <a:bodyPr/>
                    <a:lstStyle/>
                    <a:p>
                      <a:r>
                        <a:rPr lang="ru-RU" sz="900" b="1" kern="100">
                          <a:solidFill>
                            <a:sysClr val="windowText" lastClr="000000"/>
                          </a:solidFill>
                          <a:effectLst/>
                        </a:rPr>
                        <a:t>Логистика</a:t>
                      </a:r>
                      <a:endParaRPr lang="ru-RU" sz="900" b="1" kern="1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657" marR="107657" marT="71771" marB="71771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solidFill>
                            <a:sysClr val="windowText" lastClr="000000"/>
                          </a:solidFill>
                          <a:effectLst/>
                        </a:rPr>
                        <a:t>Нет автоматического распределения заказов между складами</a:t>
                      </a:r>
                      <a:endParaRPr lang="ru-RU" sz="900" kern="1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657" marR="107657" marT="71771" marB="71771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solidFill>
                            <a:sysClr val="windowText" lastClr="000000"/>
                          </a:solidFill>
                          <a:effectLst/>
                        </a:rPr>
                        <a:t>Выбор склада; ведение отдельной Excel-таблицы</a:t>
                      </a:r>
                      <a:endParaRPr lang="ru-RU" sz="900" kern="1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657" marR="107657" marT="71771" marB="71771" anchor="ctr"/>
                </a:tc>
                <a:extLst>
                  <a:ext uri="{0D108BD9-81ED-4DB2-BD59-A6C34878D82A}">
                    <a16:rowId xmlns:a16="http://schemas.microsoft.com/office/drawing/2014/main" val="1102219431"/>
                  </a:ext>
                </a:extLst>
              </a:tr>
              <a:tr h="185356">
                <a:tc>
                  <a:txBody>
                    <a:bodyPr/>
                    <a:lstStyle/>
                    <a:p>
                      <a:r>
                        <a:rPr lang="ru-RU" sz="900" b="1" kern="100">
                          <a:solidFill>
                            <a:sysClr val="windowText" lastClr="000000"/>
                          </a:solidFill>
                          <a:effectLst/>
                        </a:rPr>
                        <a:t>Курьерская служба</a:t>
                      </a:r>
                      <a:endParaRPr lang="ru-RU" sz="900" b="1" kern="1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657" marR="107657" marT="71771" marB="71771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solidFill>
                            <a:sysClr val="windowText" lastClr="000000"/>
                          </a:solidFill>
                          <a:effectLst/>
                        </a:rPr>
                        <a:t>Заказ может быть не готов к приезду</a:t>
                      </a:r>
                      <a:endParaRPr lang="ru-RU" sz="900" kern="1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657" marR="107657" marT="71771" marB="71771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solidFill>
                            <a:sysClr val="windowText" lastClr="000000"/>
                          </a:solidFill>
                          <a:effectLst/>
                        </a:rPr>
                        <a:t>Ручная работа с заказом и бумажным актом</a:t>
                      </a:r>
                      <a:endParaRPr lang="ru-RU" sz="900" kern="1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657" marR="107657" marT="71771" marB="71771" anchor="ctr"/>
                </a:tc>
                <a:extLst>
                  <a:ext uri="{0D108BD9-81ED-4DB2-BD59-A6C34878D82A}">
                    <a16:rowId xmlns:a16="http://schemas.microsoft.com/office/drawing/2014/main" val="1338960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900" b="1" kern="100">
                          <a:solidFill>
                            <a:sysClr val="windowText" lastClr="000000"/>
                          </a:solidFill>
                          <a:effectLst/>
                        </a:rPr>
                        <a:t>Бухгалтерия</a:t>
                      </a:r>
                      <a:endParaRPr lang="ru-RU" sz="900" b="1" kern="1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657" marR="107657" marT="71771" marB="71771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solidFill>
                            <a:sysClr val="windowText" lastClr="000000"/>
                          </a:solidFill>
                          <a:effectLst/>
                        </a:rPr>
                        <a:t>Оплаты и возвраты обрабатываются отдельно</a:t>
                      </a:r>
                      <a:endParaRPr lang="ru-RU" sz="900" kern="1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657" marR="107657" marT="71771" marB="71771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solidFill>
                            <a:sysClr val="windowText" lastClr="000000"/>
                          </a:solidFill>
                          <a:effectLst/>
                        </a:rPr>
                        <a:t>Ежедневная сверка оплат; обработка возвратов</a:t>
                      </a:r>
                      <a:endParaRPr lang="ru-RU" sz="900" kern="1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657" marR="107657" marT="71771" marB="71771" anchor="ctr"/>
                </a:tc>
                <a:extLst>
                  <a:ext uri="{0D108BD9-81ED-4DB2-BD59-A6C34878D82A}">
                    <a16:rowId xmlns:a16="http://schemas.microsoft.com/office/drawing/2014/main" val="2951860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900" b="1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Руководитель</a:t>
                      </a:r>
                      <a:endParaRPr lang="ru-RU" sz="900" b="1" kern="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657" marR="107657" marT="71771" marB="71771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solidFill>
                            <a:sysClr val="windowText" lastClr="000000"/>
                          </a:solidFill>
                          <a:effectLst/>
                        </a:rPr>
                        <a:t>Недостаток оперативной информации</a:t>
                      </a:r>
                      <a:endParaRPr lang="ru-RU" sz="900" kern="1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657" marR="107657" marT="71771" marB="71771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Еженедельный анализ выгрузки из Bitrix24</a:t>
                      </a:r>
                      <a:endParaRPr lang="ru-RU" sz="900" kern="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7657" marR="107657" marT="71771" marB="71771" anchor="ctr"/>
                </a:tc>
                <a:extLst>
                  <a:ext uri="{0D108BD9-81ED-4DB2-BD59-A6C34878D82A}">
                    <a16:rowId xmlns:a16="http://schemas.microsoft.com/office/drawing/2014/main" val="1695780417"/>
                  </a:ext>
                </a:extLst>
              </a:tr>
            </a:tbl>
          </a:graphicData>
        </a:graphic>
      </p:graphicFrame>
      <p:sp>
        <p:nvSpPr>
          <p:cNvPr id="7" name="Текст 2">
            <a:extLst>
              <a:ext uri="{FF2B5EF4-FFF2-40B4-BE49-F238E27FC236}">
                <a16:creationId xmlns:a16="http://schemas.microsoft.com/office/drawing/2014/main" id="{34B62DBE-2DCF-EB6F-81E7-9CBF04FC4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1758" y="4321970"/>
            <a:ext cx="8026392" cy="763385"/>
          </a:xfrm>
        </p:spPr>
        <p:txBody>
          <a:bodyPr>
            <a:normAutofit fontScale="92500" lnSpcReduction="10000"/>
          </a:bodyPr>
          <a:lstStyle/>
          <a:p>
            <a:pPr marL="146050" indent="0">
              <a:buNone/>
            </a:pPr>
            <a:r>
              <a:rPr lang="ru-RU" dirty="0"/>
              <a:t>Негативные влияния на процесс: 3–4 дня — среднее время обработки заказа; 10–12% — доля ошибок сотрудников; 8–9% — доля возвратов; 2–3% — прямые потери от внутренних ошибок; </a:t>
            </a:r>
          </a:p>
          <a:p>
            <a:pPr marL="146050" indent="0">
              <a:buNone/>
            </a:pPr>
            <a:r>
              <a:rPr lang="ru-RU" dirty="0"/>
              <a:t>15–20 минут — выяснение статуса одного заказа</a:t>
            </a:r>
          </a:p>
          <a:p>
            <a:pPr marL="14605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6163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F516C5-CF79-1B16-0199-2B590813D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Причины проблем процесса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F5A5F0B7-4501-16FD-7282-05BAC859EB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909582"/>
              </p:ext>
            </p:extLst>
          </p:nvPr>
        </p:nvGraphicFramePr>
        <p:xfrm>
          <a:off x="1165225" y="2167255"/>
          <a:ext cx="6813550" cy="18288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93010">
                  <a:extLst>
                    <a:ext uri="{9D8B030D-6E8A-4147-A177-3AD203B41FA5}">
                      <a16:colId xmlns:a16="http://schemas.microsoft.com/office/drawing/2014/main" val="4215282150"/>
                    </a:ext>
                  </a:extLst>
                </a:gridCol>
                <a:gridCol w="4320540">
                  <a:extLst>
                    <a:ext uri="{9D8B030D-6E8A-4147-A177-3AD203B41FA5}">
                      <a16:colId xmlns:a16="http://schemas.microsoft.com/office/drawing/2014/main" val="5115571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1000" b="1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Причина</a:t>
                      </a:r>
                      <a:endParaRPr lang="ru-RU" sz="1000" b="1" kern="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1000" b="1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Что приводит к проблеме</a:t>
                      </a:r>
                      <a:endParaRPr lang="ru-RU" sz="1000" b="1" kern="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84361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Разрозненные системы</a:t>
                      </a:r>
                      <a:endParaRPr lang="ru-RU" sz="1000" kern="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10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Bitrix24, 1С и Excel не образуют единый информационный контур</a:t>
                      </a:r>
                      <a:endParaRPr lang="ru-RU" sz="1000" kern="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28579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Отсутствие автоматического обмена</a:t>
                      </a:r>
                      <a:endParaRPr lang="ru-RU" sz="1000" kern="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10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Данные приходится переносить и проверять вручную</a:t>
                      </a:r>
                      <a:endParaRPr lang="ru-RU" sz="1000" kern="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336768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Неунифицированные правила</a:t>
                      </a:r>
                      <a:endParaRPr lang="ru-RU" sz="1000" kern="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10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Разные участники по-разному обрабатывают отдельные этапы</a:t>
                      </a:r>
                      <a:endParaRPr lang="ru-RU" sz="1000" kern="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846029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Недостаток контроля</a:t>
                      </a:r>
                      <a:endParaRPr lang="ru-RU" sz="1000" kern="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10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Нет единого механизма отслеживания сроков и отклонений</a:t>
                      </a:r>
                      <a:endParaRPr lang="ru-RU" sz="1000" kern="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51833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Высокая зависимость от сотрудников</a:t>
                      </a:r>
                      <a:endParaRPr lang="ru-RU" sz="1000" kern="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10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Результат процесса зависит от действий конкретного человека</a:t>
                      </a:r>
                      <a:endParaRPr lang="ru-RU" sz="1000" kern="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21892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5563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EF16C0-416F-5ECF-8FB0-8F544595A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Требования к автоматизации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6F6DC1FB-B453-72A1-00E4-011E11A6E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005746"/>
              </p:ext>
            </p:extLst>
          </p:nvPr>
        </p:nvGraphicFramePr>
        <p:xfrm>
          <a:off x="216776" y="1853850"/>
          <a:ext cx="8710448" cy="94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0196">
                  <a:extLst>
                    <a:ext uri="{9D8B030D-6E8A-4147-A177-3AD203B41FA5}">
                      <a16:colId xmlns:a16="http://schemas.microsoft.com/office/drawing/2014/main" val="3822414472"/>
                    </a:ext>
                  </a:extLst>
                </a:gridCol>
                <a:gridCol w="1787416">
                  <a:extLst>
                    <a:ext uri="{9D8B030D-6E8A-4147-A177-3AD203B41FA5}">
                      <a16:colId xmlns:a16="http://schemas.microsoft.com/office/drawing/2014/main" val="1726723878"/>
                    </a:ext>
                  </a:extLst>
                </a:gridCol>
                <a:gridCol w="435522">
                  <a:extLst>
                    <a:ext uri="{9D8B030D-6E8A-4147-A177-3AD203B41FA5}">
                      <a16:colId xmlns:a16="http://schemas.microsoft.com/office/drawing/2014/main" val="1484605778"/>
                    </a:ext>
                  </a:extLst>
                </a:gridCol>
                <a:gridCol w="1742090">
                  <a:extLst>
                    <a:ext uri="{9D8B030D-6E8A-4147-A177-3AD203B41FA5}">
                      <a16:colId xmlns:a16="http://schemas.microsoft.com/office/drawing/2014/main" val="21897135"/>
                    </a:ext>
                  </a:extLst>
                </a:gridCol>
                <a:gridCol w="433552">
                  <a:extLst>
                    <a:ext uri="{9D8B030D-6E8A-4147-A177-3AD203B41FA5}">
                      <a16:colId xmlns:a16="http://schemas.microsoft.com/office/drawing/2014/main" val="2633888387"/>
                    </a:ext>
                  </a:extLst>
                </a:gridCol>
                <a:gridCol w="1744060">
                  <a:extLst>
                    <a:ext uri="{9D8B030D-6E8A-4147-A177-3AD203B41FA5}">
                      <a16:colId xmlns:a16="http://schemas.microsoft.com/office/drawing/2014/main" val="2678602893"/>
                    </a:ext>
                  </a:extLst>
                </a:gridCol>
                <a:gridCol w="459171">
                  <a:extLst>
                    <a:ext uri="{9D8B030D-6E8A-4147-A177-3AD203B41FA5}">
                      <a16:colId xmlns:a16="http://schemas.microsoft.com/office/drawing/2014/main" val="1305235774"/>
                    </a:ext>
                  </a:extLst>
                </a:gridCol>
                <a:gridCol w="1718441">
                  <a:extLst>
                    <a:ext uri="{9D8B030D-6E8A-4147-A177-3AD203B41FA5}">
                      <a16:colId xmlns:a16="http://schemas.microsoft.com/office/drawing/2014/main" val="940373917"/>
                    </a:ext>
                  </a:extLst>
                </a:gridCol>
              </a:tblGrid>
              <a:tr h="242964">
                <a:tc gridSpan="8">
                  <a:txBody>
                    <a:bodyPr/>
                    <a:lstStyle/>
                    <a:p>
                      <a:pPr algn="l"/>
                      <a:r>
                        <a:rPr lang="ru-RU" sz="1000" dirty="0">
                          <a:solidFill>
                            <a:sysClr val="windowText" lastClr="000000"/>
                          </a:solidFill>
                        </a:rPr>
                        <a:t>Бизнес требования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219521"/>
                  </a:ext>
                </a:extLst>
              </a:tr>
              <a:tr h="252248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" sz="1000" b="0" i="0" u="none" strike="noStrike" cap="none" spc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B-1</a:t>
                      </a:r>
                      <a:endParaRPr lang="ru-RU" sz="1000" b="0" i="0" u="none" strike="noStrike" cap="none" spc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00" b="0" i="0" u="none" strike="noStrike" cap="none" spc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Сократить среднее время обработки заказа до 1,5 дня или менее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" sz="1000" b="0" i="0" u="none" strike="noStrike" cap="none" spc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B-2</a:t>
                      </a:r>
                      <a:endParaRPr lang="ru-RU" sz="1000" b="0" i="0" u="none" strike="noStrike" cap="none" spc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00" b="0" i="0" u="none" strike="noStrike" cap="none" spc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Снизить количество ошибок сотрудников минимум на 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" sz="1000" b="0" i="0" u="none" strike="noStrike" cap="none" spc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B-3</a:t>
                      </a:r>
                      <a:endParaRPr lang="ru-RU" sz="1000" b="0" i="0" u="none" strike="noStrike" cap="none" spc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00" b="0" i="0" u="none" strike="noStrike" cap="none" spc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Обеспечить прозрачность и управляемость процесса обработки заказов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" sz="1000" b="0" i="0" u="none" strike="noStrike" cap="none" spc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B-4</a:t>
                      </a:r>
                      <a:endParaRPr lang="ru-RU" sz="1000" b="0" i="0" u="none" strike="noStrike" cap="none" spc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00" b="0" i="0" u="none" strike="noStrike" cap="none" spc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Сократить количество ручных операций и дублирование данных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11965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46C1A1DD-A455-EB84-F8C7-8808D507A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686077"/>
              </p:ext>
            </p:extLst>
          </p:nvPr>
        </p:nvGraphicFramePr>
        <p:xfrm>
          <a:off x="216776" y="2798730"/>
          <a:ext cx="8710450" cy="20916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1369">
                  <a:extLst>
                    <a:ext uri="{9D8B030D-6E8A-4147-A177-3AD203B41FA5}">
                      <a16:colId xmlns:a16="http://schemas.microsoft.com/office/drawing/2014/main" val="2648840885"/>
                    </a:ext>
                  </a:extLst>
                </a:gridCol>
                <a:gridCol w="1190296">
                  <a:extLst>
                    <a:ext uri="{9D8B030D-6E8A-4147-A177-3AD203B41FA5}">
                      <a16:colId xmlns:a16="http://schemas.microsoft.com/office/drawing/2014/main" val="1123810724"/>
                    </a:ext>
                  </a:extLst>
                </a:gridCol>
                <a:gridCol w="283780">
                  <a:extLst>
                    <a:ext uri="{9D8B030D-6E8A-4147-A177-3AD203B41FA5}">
                      <a16:colId xmlns:a16="http://schemas.microsoft.com/office/drawing/2014/main" val="3663313372"/>
                    </a:ext>
                  </a:extLst>
                </a:gridCol>
                <a:gridCol w="1698735">
                  <a:extLst>
                    <a:ext uri="{9D8B030D-6E8A-4147-A177-3AD203B41FA5}">
                      <a16:colId xmlns:a16="http://schemas.microsoft.com/office/drawing/2014/main" val="2040007510"/>
                    </a:ext>
                  </a:extLst>
                </a:gridCol>
                <a:gridCol w="279837">
                  <a:extLst>
                    <a:ext uri="{9D8B030D-6E8A-4147-A177-3AD203B41FA5}">
                      <a16:colId xmlns:a16="http://schemas.microsoft.com/office/drawing/2014/main" val="2668574184"/>
                    </a:ext>
                  </a:extLst>
                </a:gridCol>
                <a:gridCol w="1277007">
                  <a:extLst>
                    <a:ext uri="{9D8B030D-6E8A-4147-A177-3AD203B41FA5}">
                      <a16:colId xmlns:a16="http://schemas.microsoft.com/office/drawing/2014/main" val="429141108"/>
                    </a:ext>
                  </a:extLst>
                </a:gridCol>
                <a:gridCol w="283779">
                  <a:extLst>
                    <a:ext uri="{9D8B030D-6E8A-4147-A177-3AD203B41FA5}">
                      <a16:colId xmlns:a16="http://schemas.microsoft.com/office/drawing/2014/main" val="1932368753"/>
                    </a:ext>
                  </a:extLst>
                </a:gridCol>
                <a:gridCol w="1316421">
                  <a:extLst>
                    <a:ext uri="{9D8B030D-6E8A-4147-A177-3AD203B41FA5}">
                      <a16:colId xmlns:a16="http://schemas.microsoft.com/office/drawing/2014/main" val="2360362229"/>
                    </a:ext>
                  </a:extLst>
                </a:gridCol>
                <a:gridCol w="331076">
                  <a:extLst>
                    <a:ext uri="{9D8B030D-6E8A-4147-A177-3AD203B41FA5}">
                      <a16:colId xmlns:a16="http://schemas.microsoft.com/office/drawing/2014/main" val="2407602404"/>
                    </a:ext>
                  </a:extLst>
                </a:gridCol>
                <a:gridCol w="1738150">
                  <a:extLst>
                    <a:ext uri="{9D8B030D-6E8A-4147-A177-3AD203B41FA5}">
                      <a16:colId xmlns:a16="http://schemas.microsoft.com/office/drawing/2014/main" val="4140477573"/>
                    </a:ext>
                  </a:extLst>
                </a:gridCol>
              </a:tblGrid>
              <a:tr h="236132">
                <a:tc gridSpan="10">
                  <a:txBody>
                    <a:bodyPr/>
                    <a:lstStyle/>
                    <a:p>
                      <a:pPr algn="l"/>
                      <a:r>
                        <a:rPr lang="ru-RU" sz="10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Пользовательские требования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4809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" sz="1000" b="0" i="0" u="none" strike="noStrike" cap="none" spc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U-1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00" b="0" i="0" u="none" strike="noStrike" cap="none" spc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Менеджер должен иметь возможность видеть актуальный статус заказа и ответственного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" sz="1000" b="0" i="0" u="none" strike="noStrike" cap="none" spc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U-2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00" b="0" i="0" u="none" strike="noStrike" cap="none" spc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Менеджер должен иметь возможность видеть актуальную информацию о наличии и резерве товара без ручной сверки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" sz="1000" b="0" i="0" u="none" strike="noStrike" cap="none" spc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U-3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00" b="0" i="0" u="none" strike="noStrike" cap="none" spc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Склад должен иметь возможность видеть актуальную очередь заказов на комплектацию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" sz="1000" b="0" i="0" u="none" strike="noStrike" cap="none" spc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U-4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00" b="0" i="0" u="none" strike="noStrike" cap="none" spc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Ответственные сотрудники должны получать уведомления о задержках обработки заказа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" sz="1000" b="0" i="0" u="none" strike="noStrike" cap="none" spc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U-5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00" b="0" i="0" u="none" strike="noStrike" cap="none" spc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Руководитель должен иметь возможность ежедневно видеть основные показатели обработки заказов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511705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" sz="1000" b="0" i="0" u="none" strike="noStrike" cap="none" spc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U-6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00" b="0" i="0" u="none" strike="noStrike" cap="none" spc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Менеджер должен иметь возможность видеть, какие обязательные данные клиента не заполнены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" sz="1000" b="0" i="0" u="none" strike="noStrike" cap="none" spc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U-7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00" b="0" i="0" u="none" strike="noStrike" cap="none" spc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Менеджер и бухгалтерия должны иметь возможность видеть актуальный статус оплаты заказа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" sz="1000" b="0" i="0" u="none" strike="noStrike" cap="none" spc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U-8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000" b="0" i="0" u="none" strike="noStrike" cap="none" spc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Ответственный сотрудник должен иметь возможность фиксировать причину отмены или возврата заказа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" sz="1000" b="0" i="0" u="none" strike="noStrike" cap="none" spc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ru-RU" sz="1000" b="0" i="0" u="none" strike="noStrike" cap="none" spc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" sz="1000" b="0" i="0" u="none" strike="noStrike" cap="none" spc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ru-RU" sz="1000" b="0" i="0" u="none" strike="noStrike" cap="none" spc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376554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0417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0CD7E-11FC-1595-9F5D-FE6FEA00E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Требования к автоматизации</a:t>
            </a:r>
            <a:r>
              <a:rPr lang="en-US" dirty="0"/>
              <a:t> (</a:t>
            </a:r>
            <a:r>
              <a:rPr lang="ru-RU" dirty="0"/>
              <a:t>Функциональные)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771C8FB0-ECAD-EBDC-857E-36F3AF922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42111"/>
              </p:ext>
            </p:extLst>
          </p:nvPr>
        </p:nvGraphicFramePr>
        <p:xfrm>
          <a:off x="216775" y="1925211"/>
          <a:ext cx="8710450" cy="20916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1369">
                  <a:extLst>
                    <a:ext uri="{9D8B030D-6E8A-4147-A177-3AD203B41FA5}">
                      <a16:colId xmlns:a16="http://schemas.microsoft.com/office/drawing/2014/main" val="2648840885"/>
                    </a:ext>
                  </a:extLst>
                </a:gridCol>
                <a:gridCol w="1190296">
                  <a:extLst>
                    <a:ext uri="{9D8B030D-6E8A-4147-A177-3AD203B41FA5}">
                      <a16:colId xmlns:a16="http://schemas.microsoft.com/office/drawing/2014/main" val="1123810724"/>
                    </a:ext>
                  </a:extLst>
                </a:gridCol>
                <a:gridCol w="283780">
                  <a:extLst>
                    <a:ext uri="{9D8B030D-6E8A-4147-A177-3AD203B41FA5}">
                      <a16:colId xmlns:a16="http://schemas.microsoft.com/office/drawing/2014/main" val="3663313372"/>
                    </a:ext>
                  </a:extLst>
                </a:gridCol>
                <a:gridCol w="1698735">
                  <a:extLst>
                    <a:ext uri="{9D8B030D-6E8A-4147-A177-3AD203B41FA5}">
                      <a16:colId xmlns:a16="http://schemas.microsoft.com/office/drawing/2014/main" val="2040007510"/>
                    </a:ext>
                  </a:extLst>
                </a:gridCol>
                <a:gridCol w="279837">
                  <a:extLst>
                    <a:ext uri="{9D8B030D-6E8A-4147-A177-3AD203B41FA5}">
                      <a16:colId xmlns:a16="http://schemas.microsoft.com/office/drawing/2014/main" val="2668574184"/>
                    </a:ext>
                  </a:extLst>
                </a:gridCol>
                <a:gridCol w="1277007">
                  <a:extLst>
                    <a:ext uri="{9D8B030D-6E8A-4147-A177-3AD203B41FA5}">
                      <a16:colId xmlns:a16="http://schemas.microsoft.com/office/drawing/2014/main" val="429141108"/>
                    </a:ext>
                  </a:extLst>
                </a:gridCol>
                <a:gridCol w="283779">
                  <a:extLst>
                    <a:ext uri="{9D8B030D-6E8A-4147-A177-3AD203B41FA5}">
                      <a16:colId xmlns:a16="http://schemas.microsoft.com/office/drawing/2014/main" val="1932368753"/>
                    </a:ext>
                  </a:extLst>
                </a:gridCol>
                <a:gridCol w="1316421">
                  <a:extLst>
                    <a:ext uri="{9D8B030D-6E8A-4147-A177-3AD203B41FA5}">
                      <a16:colId xmlns:a16="http://schemas.microsoft.com/office/drawing/2014/main" val="2360362229"/>
                    </a:ext>
                  </a:extLst>
                </a:gridCol>
                <a:gridCol w="331076">
                  <a:extLst>
                    <a:ext uri="{9D8B030D-6E8A-4147-A177-3AD203B41FA5}">
                      <a16:colId xmlns:a16="http://schemas.microsoft.com/office/drawing/2014/main" val="2407602404"/>
                    </a:ext>
                  </a:extLst>
                </a:gridCol>
                <a:gridCol w="1738150">
                  <a:extLst>
                    <a:ext uri="{9D8B030D-6E8A-4147-A177-3AD203B41FA5}">
                      <a16:colId xmlns:a16="http://schemas.microsoft.com/office/drawing/2014/main" val="4140477573"/>
                    </a:ext>
                  </a:extLst>
                </a:gridCol>
              </a:tblGrid>
              <a:tr h="236132">
                <a:tc gridSpan="10">
                  <a:txBody>
                    <a:bodyPr/>
                    <a:lstStyle/>
                    <a:p>
                      <a:pPr algn="l"/>
                      <a:r>
                        <a:rPr lang="ru-RU" sz="10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Функциональные требования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4809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F-1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Система должна отображать в </a:t>
                      </a:r>
                      <a:r>
                        <a:rPr lang="e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Bitrix24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единый список заказов с актуальными данными по заказу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F-2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Система должна поддерживать единую статусную модель заказа для участников процесса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F-3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Система должна обеспечивать автоматический или полуавтоматический обмен с 1С по остаткам товара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F-4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Система должна фиксировать резерв товара по подтверждённому заказу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F-5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Система должна проверять заполнение обязательных данных клиента перед подтверждением заказа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511705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F-6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Система должна формировать и отображать складу актуальную очередь заказов на комплектацию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F-7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Система должна уведомлять ответственного сотрудника о задержках обработки заказа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F-8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Система должна отображать актуальный статус оплаты заказа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F-9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Система должна обеспечивать фиксацию причины отмены или возврата заказа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F-10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Система должна формировать базовый отчёт для руководителя по заказам, задержкам и ошибкам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896701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9221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687CA-354C-C9DE-0655-92E31DF1E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 BE</a:t>
            </a:r>
            <a:endParaRPr lang="ru-RU" dirty="0"/>
          </a:p>
        </p:txBody>
      </p:sp>
      <p:pic>
        <p:nvPicPr>
          <p:cNvPr id="13" name="Рисунок 12" descr="Изображение выглядит как текст, чек, линия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A1C4B529-D48C-7BC2-85E9-385A16A07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23907"/>
            <a:ext cx="9152593" cy="248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28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5F926D-82E0-AD04-F070-14125230A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dirty="0"/>
              <a:t>MVP </a:t>
            </a:r>
            <a:r>
              <a:rPr lang="ru-RU" dirty="0"/>
              <a:t>и </a:t>
            </a:r>
            <a:r>
              <a:rPr lang="ru-RU" dirty="0" err="1"/>
              <a:t>приоритизация</a:t>
            </a:r>
            <a:r>
              <a:rPr lang="ru-RU" dirty="0"/>
              <a:t> требований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8557599D-A827-306D-767E-4819CC223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157952"/>
              </p:ext>
            </p:extLst>
          </p:nvPr>
        </p:nvGraphicFramePr>
        <p:xfrm>
          <a:off x="170481" y="1853850"/>
          <a:ext cx="8671302" cy="21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74217">
                  <a:extLst>
                    <a:ext uri="{9D8B030D-6E8A-4147-A177-3AD203B41FA5}">
                      <a16:colId xmlns:a16="http://schemas.microsoft.com/office/drawing/2014/main" val="158294683"/>
                    </a:ext>
                  </a:extLst>
                </a:gridCol>
                <a:gridCol w="3797085">
                  <a:extLst>
                    <a:ext uri="{9D8B030D-6E8A-4147-A177-3AD203B41FA5}">
                      <a16:colId xmlns:a16="http://schemas.microsoft.com/office/drawing/2014/main" val="2009677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b="1" dirty="0">
                          <a:solidFill>
                            <a:sysClr val="windowText" lastClr="000000"/>
                          </a:solidFill>
                        </a:rPr>
                        <a:t>MUST HAVE</a:t>
                      </a:r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:</a:t>
                      </a:r>
                    </a:p>
                    <a:p>
                      <a:pPr marL="285750" marR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F-1.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Единый список заказов с актуальными статусами</a:t>
                      </a:r>
                    </a:p>
                    <a:p>
                      <a:pPr marL="285750" marR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F-2.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Единая статусная модель заказа</a:t>
                      </a:r>
                    </a:p>
                    <a:p>
                      <a:pPr marL="285750" marR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F-3.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Получение актуальных остатков из 1С</a:t>
                      </a:r>
                    </a:p>
                    <a:p>
                      <a:pPr marL="285750" marR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F-4.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Фиксация резерва товара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F-5.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Проверка обязательных данных клиента</a:t>
                      </a:r>
                      <a:endParaRPr lang="ru-RU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F-6.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Очередь заказов на комплектацию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F-7.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Уведомления о задержках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F-8.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Отображение статуса оплаты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F-9.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Фиксация причин отмен и возвратов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F-10. 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Базовый отчёт для руководителя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75997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Цель </a:t>
                      </a:r>
                      <a:r>
                        <a:rPr lang="en" b="1" dirty="0">
                          <a:solidFill>
                            <a:sysClr val="windowText" lastClr="000000"/>
                          </a:solidFill>
                        </a:rPr>
                        <a:t>MVP: </a:t>
                      </a:r>
                      <a:r>
                        <a:rPr lang="ru-RU" b="0" dirty="0">
                          <a:solidFill>
                            <a:sysClr val="windowText" lastClr="000000"/>
                          </a:solidFill>
                        </a:rPr>
                        <a:t>обеспечить прозрачность обработки заказа, актуальность статусов и остатков, управляемую комплектацию, автоматические уведомления и базовую ежедневную отчётность.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175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96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5A3B3-D4F0-831D-45D1-D5A3FE6C7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8C3BA6-BA84-F434-3A1F-5CB001F40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Тест-кейсы </a:t>
            </a:r>
            <a:r>
              <a:rPr lang="en" dirty="0"/>
              <a:t>MVP</a:t>
            </a:r>
            <a:endParaRPr lang="ru-RU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B310F39-609A-5C80-EC9E-AD37E9293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56613"/>
              </p:ext>
            </p:extLst>
          </p:nvPr>
        </p:nvGraphicFramePr>
        <p:xfrm>
          <a:off x="256906" y="1833478"/>
          <a:ext cx="8521700" cy="291234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9779">
                  <a:extLst>
                    <a:ext uri="{9D8B030D-6E8A-4147-A177-3AD203B41FA5}">
                      <a16:colId xmlns:a16="http://schemas.microsoft.com/office/drawing/2014/main" val="832043840"/>
                    </a:ext>
                  </a:extLst>
                </a:gridCol>
                <a:gridCol w="1844298">
                  <a:extLst>
                    <a:ext uri="{9D8B030D-6E8A-4147-A177-3AD203B41FA5}">
                      <a16:colId xmlns:a16="http://schemas.microsoft.com/office/drawing/2014/main" val="2539460348"/>
                    </a:ext>
                  </a:extLst>
                </a:gridCol>
                <a:gridCol w="2185261">
                  <a:extLst>
                    <a:ext uri="{9D8B030D-6E8A-4147-A177-3AD203B41FA5}">
                      <a16:colId xmlns:a16="http://schemas.microsoft.com/office/drawing/2014/main" val="807145860"/>
                    </a:ext>
                  </a:extLst>
                </a:gridCol>
                <a:gridCol w="2231756">
                  <a:extLst>
                    <a:ext uri="{9D8B030D-6E8A-4147-A177-3AD203B41FA5}">
                      <a16:colId xmlns:a16="http://schemas.microsoft.com/office/drawing/2014/main" val="4004774358"/>
                    </a:ext>
                  </a:extLst>
                </a:gridCol>
                <a:gridCol w="1920606">
                  <a:extLst>
                    <a:ext uri="{9D8B030D-6E8A-4147-A177-3AD203B41FA5}">
                      <a16:colId xmlns:a16="http://schemas.microsoft.com/office/drawing/2014/main" val="134851821"/>
                    </a:ext>
                  </a:extLst>
                </a:gridCol>
              </a:tblGrid>
              <a:tr h="112160">
                <a:tc>
                  <a:txBody>
                    <a:bodyPr/>
                    <a:lstStyle/>
                    <a:p>
                      <a:pPr algn="l" fontAlgn="b"/>
                      <a:r>
                        <a:rPr lang="en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ID</a:t>
                      </a:r>
                      <a:endParaRPr lang="en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Требование</a:t>
                      </a:r>
                      <a:endParaRPr lang="ru-RU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Предусловия</a:t>
                      </a:r>
                      <a:endParaRPr lang="ru-RU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Шаги</a:t>
                      </a:r>
                      <a:endParaRPr lang="ru-RU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Ожидаемый результат</a:t>
                      </a:r>
                      <a:endParaRPr lang="ru-RU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extLst>
                  <a:ext uri="{0D108BD9-81ED-4DB2-BD59-A6C34878D82A}">
                    <a16:rowId xmlns:a16="http://schemas.microsoft.com/office/drawing/2014/main" val="707597488"/>
                  </a:ext>
                </a:extLst>
              </a:tr>
              <a:tr h="332446">
                <a:tc>
                  <a:txBody>
                    <a:bodyPr/>
                    <a:lstStyle/>
                    <a:p>
                      <a:pPr algn="l" fontAlgn="b"/>
                      <a:r>
                        <a:rPr lang="en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TC-1</a:t>
                      </a:r>
                      <a:endParaRPr lang="en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F-1. </a:t>
                      </a:r>
                      <a:r>
                        <a:rPr lang="ru-RU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Единый список заказов в </a:t>
                      </a:r>
                      <a:r>
                        <a:rPr lang="en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Bitrix24</a:t>
                      </a:r>
                      <a:endParaRPr lang="en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В </a:t>
                      </a:r>
                      <a:r>
                        <a:rPr lang="en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Bitrix24 </a:t>
                      </a:r>
                      <a:r>
                        <a:rPr lang="ru-RU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есть несколько заказов с разными статусами и ответственными</a:t>
                      </a:r>
                      <a:endParaRPr lang="ru-RU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1. Открыть список заказов. </a:t>
                      </a:r>
                    </a:p>
                    <a:p>
                      <a:pPr algn="l" fontAlgn="b"/>
                      <a:r>
                        <a:rPr lang="ru-RU" sz="100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2. Найти тестовый заказ. </a:t>
                      </a:r>
                    </a:p>
                    <a:p>
                      <a:pPr algn="l" fontAlgn="b"/>
                      <a:r>
                        <a:rPr lang="ru-RU" sz="100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3. Проверить данные заказа</a:t>
                      </a:r>
                      <a:endParaRPr lang="ru-RU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Заказ отображается в едином списке; данные, статус и ответственный актуальны</a:t>
                      </a:r>
                      <a:endParaRPr lang="ru-RU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extLst>
                  <a:ext uri="{0D108BD9-81ED-4DB2-BD59-A6C34878D82A}">
                    <a16:rowId xmlns:a16="http://schemas.microsoft.com/office/drawing/2014/main" val="3036013429"/>
                  </a:ext>
                </a:extLst>
              </a:tr>
              <a:tr h="442589">
                <a:tc>
                  <a:txBody>
                    <a:bodyPr/>
                    <a:lstStyle/>
                    <a:p>
                      <a:pPr algn="l" fontAlgn="b"/>
                      <a:r>
                        <a:rPr lang="en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TC-2</a:t>
                      </a:r>
                      <a:endParaRPr lang="en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00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F-2. </a:t>
                      </a:r>
                      <a:r>
                        <a:rPr lang="ru-RU" sz="100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Единая статусная модель заказа</a:t>
                      </a:r>
                      <a:endParaRPr lang="ru-RU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Тестовый заказ существует в </a:t>
                      </a:r>
                      <a:r>
                        <a:rPr lang="en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Bitrix24 </a:t>
                      </a:r>
                      <a:r>
                        <a:rPr lang="ru-RU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и 1С</a:t>
                      </a:r>
                      <a:endParaRPr lang="ru-RU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1. Изменить статус заказа на «Собрано». </a:t>
                      </a:r>
                    </a:p>
                    <a:p>
                      <a:pPr algn="l" fontAlgn="b"/>
                      <a:r>
                        <a:rPr lang="ru-RU" sz="100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2. Открыть заказ в </a:t>
                      </a:r>
                      <a:r>
                        <a:rPr lang="en" sz="100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Bitrix24 </a:t>
                      </a:r>
                      <a:r>
                        <a:rPr lang="ru-RU" sz="100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и 1С. </a:t>
                      </a:r>
                    </a:p>
                    <a:p>
                      <a:pPr algn="l" fontAlgn="b"/>
                      <a:r>
                        <a:rPr lang="ru-RU" sz="100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3. Проверить статус</a:t>
                      </a:r>
                      <a:endParaRPr lang="ru-RU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В системах используется единый статус «Собрано»; статус заказа отображается корректно</a:t>
                      </a:r>
                      <a:endParaRPr lang="ru-RU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extLst>
                  <a:ext uri="{0D108BD9-81ED-4DB2-BD59-A6C34878D82A}">
                    <a16:rowId xmlns:a16="http://schemas.microsoft.com/office/drawing/2014/main" val="365796862"/>
                  </a:ext>
                </a:extLst>
              </a:tr>
              <a:tr h="332446">
                <a:tc>
                  <a:txBody>
                    <a:bodyPr/>
                    <a:lstStyle/>
                    <a:p>
                      <a:pPr algn="l" fontAlgn="b"/>
                      <a:r>
                        <a:rPr lang="en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TC-3</a:t>
                      </a:r>
                      <a:endParaRPr lang="en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F-3. </a:t>
                      </a:r>
                      <a:r>
                        <a:rPr lang="ru-RU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Обмен с 1С по остаткам товара</a:t>
                      </a:r>
                      <a:endParaRPr lang="ru-RU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В 1С установлен известный остаток тестового товара</a:t>
                      </a:r>
                      <a:endParaRPr lang="ru-RU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1. Открыть тестовый заказ. </a:t>
                      </a:r>
                    </a:p>
                    <a:p>
                      <a:pPr algn="l" fontAlgn="b"/>
                      <a:r>
                        <a:rPr lang="ru-RU" sz="100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2. Добавить товар. </a:t>
                      </a:r>
                    </a:p>
                    <a:p>
                      <a:pPr algn="l" fontAlgn="b"/>
                      <a:r>
                        <a:rPr lang="ru-RU" sz="100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3. Выполнить проверку наличия</a:t>
                      </a:r>
                      <a:endParaRPr lang="ru-RU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Система получает из 1С и отображает актуальный остаток товара</a:t>
                      </a:r>
                      <a:endParaRPr lang="ru-RU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extLst>
                  <a:ext uri="{0D108BD9-81ED-4DB2-BD59-A6C34878D82A}">
                    <a16:rowId xmlns:a16="http://schemas.microsoft.com/office/drawing/2014/main" val="2574450132"/>
                  </a:ext>
                </a:extLst>
              </a:tr>
              <a:tr h="442589">
                <a:tc>
                  <a:txBody>
                    <a:bodyPr/>
                    <a:lstStyle/>
                    <a:p>
                      <a:pPr algn="l" fontAlgn="b"/>
                      <a:r>
                        <a:rPr lang="en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TC-4</a:t>
                      </a:r>
                      <a:endParaRPr lang="en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F-4. </a:t>
                      </a:r>
                      <a:r>
                        <a:rPr lang="ru-RU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Фиксация резерва товара</a:t>
                      </a:r>
                      <a:endParaRPr lang="ru-RU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В 1С имеется доступный остаток; тестовый заказ подтверждён</a:t>
                      </a:r>
                      <a:endParaRPr lang="ru-RU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1. Открыть подтверждённый заказ. </a:t>
                      </a:r>
                    </a:p>
                    <a:p>
                      <a:pPr algn="l" fontAlgn="b"/>
                      <a:r>
                        <a:rPr lang="ru-RU" sz="100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2. Выполнить резервирование товара. </a:t>
                      </a:r>
                    </a:p>
                    <a:p>
                      <a:pPr algn="l" fontAlgn="b"/>
                      <a:r>
                        <a:rPr lang="ru-RU" sz="100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3. Проверить резерв в 1С</a:t>
                      </a:r>
                      <a:endParaRPr lang="ru-RU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Резерв товара зафиксирован за конкретным заказом; доступный остаток корректно уменьшен</a:t>
                      </a:r>
                      <a:endParaRPr lang="ru-RU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extLst>
                  <a:ext uri="{0D108BD9-81ED-4DB2-BD59-A6C34878D82A}">
                    <a16:rowId xmlns:a16="http://schemas.microsoft.com/office/drawing/2014/main" val="4161272256"/>
                  </a:ext>
                </a:extLst>
              </a:tr>
              <a:tr h="529307">
                <a:tc>
                  <a:txBody>
                    <a:bodyPr/>
                    <a:lstStyle/>
                    <a:p>
                      <a:pPr algn="l" fontAlgn="b"/>
                      <a:r>
                        <a:rPr lang="en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TC-5</a:t>
                      </a:r>
                      <a:endParaRPr lang="en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F-5. </a:t>
                      </a:r>
                      <a:r>
                        <a:rPr lang="ru-RU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Проверка обязательных данных клиента</a:t>
                      </a:r>
                      <a:endParaRPr lang="ru-RU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Создан заказ, в котором не заполнено обязательное поле клиента</a:t>
                      </a:r>
                      <a:endParaRPr lang="ru-RU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1. Открыть заказ. </a:t>
                      </a:r>
                    </a:p>
                    <a:p>
                      <a:pPr algn="l" fontAlgn="b"/>
                      <a:r>
                        <a:rPr lang="ru-RU" sz="100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2. Попытаться подтвердить заказ</a:t>
                      </a:r>
                      <a:endParaRPr lang="ru-RU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Система обнаруживает незаполненные обязательные данные и сообщает о необходимости их заполнения</a:t>
                      </a:r>
                      <a:endParaRPr lang="ru-RU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extLst>
                  <a:ext uri="{0D108BD9-81ED-4DB2-BD59-A6C34878D82A}">
                    <a16:rowId xmlns:a16="http://schemas.microsoft.com/office/drawing/2014/main" val="4153166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863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8804D8-858D-2B59-EA07-ED6C67778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Тест-кейсы </a:t>
            </a:r>
            <a:r>
              <a:rPr lang="en" dirty="0"/>
              <a:t>MVP</a:t>
            </a:r>
            <a:endParaRPr lang="ru-RU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E51A1C0-8501-4942-6E91-095764B6A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491525"/>
              </p:ext>
            </p:extLst>
          </p:nvPr>
        </p:nvGraphicFramePr>
        <p:xfrm>
          <a:off x="249157" y="1740284"/>
          <a:ext cx="8521700" cy="32508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9779">
                  <a:extLst>
                    <a:ext uri="{9D8B030D-6E8A-4147-A177-3AD203B41FA5}">
                      <a16:colId xmlns:a16="http://schemas.microsoft.com/office/drawing/2014/main" val="832043840"/>
                    </a:ext>
                  </a:extLst>
                </a:gridCol>
                <a:gridCol w="1844298">
                  <a:extLst>
                    <a:ext uri="{9D8B030D-6E8A-4147-A177-3AD203B41FA5}">
                      <a16:colId xmlns:a16="http://schemas.microsoft.com/office/drawing/2014/main" val="2539460348"/>
                    </a:ext>
                  </a:extLst>
                </a:gridCol>
                <a:gridCol w="2123268">
                  <a:extLst>
                    <a:ext uri="{9D8B030D-6E8A-4147-A177-3AD203B41FA5}">
                      <a16:colId xmlns:a16="http://schemas.microsoft.com/office/drawing/2014/main" val="807145860"/>
                    </a:ext>
                  </a:extLst>
                </a:gridCol>
                <a:gridCol w="2293749">
                  <a:extLst>
                    <a:ext uri="{9D8B030D-6E8A-4147-A177-3AD203B41FA5}">
                      <a16:colId xmlns:a16="http://schemas.microsoft.com/office/drawing/2014/main" val="4004774358"/>
                    </a:ext>
                  </a:extLst>
                </a:gridCol>
                <a:gridCol w="1920606">
                  <a:extLst>
                    <a:ext uri="{9D8B030D-6E8A-4147-A177-3AD203B41FA5}">
                      <a16:colId xmlns:a16="http://schemas.microsoft.com/office/drawing/2014/main" val="134851821"/>
                    </a:ext>
                  </a:extLst>
                </a:gridCol>
              </a:tblGrid>
              <a:tr h="112160">
                <a:tc>
                  <a:txBody>
                    <a:bodyPr/>
                    <a:lstStyle/>
                    <a:p>
                      <a:pPr algn="l" fontAlgn="b"/>
                      <a:r>
                        <a:rPr lang="en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ID</a:t>
                      </a:r>
                      <a:endParaRPr lang="en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Требование</a:t>
                      </a:r>
                      <a:endParaRPr lang="ru-RU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Предусловия</a:t>
                      </a:r>
                      <a:endParaRPr lang="ru-RU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Шаги</a:t>
                      </a:r>
                      <a:endParaRPr lang="ru-RU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Ожидаемый результат</a:t>
                      </a:r>
                      <a:endParaRPr lang="ru-RU" sz="1000" b="0" i="0" u="none" strike="noStrike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2791" marR="2791" marT="2791" marB="0"/>
                </a:tc>
                <a:extLst>
                  <a:ext uri="{0D108BD9-81ED-4DB2-BD59-A6C34878D82A}">
                    <a16:rowId xmlns:a16="http://schemas.microsoft.com/office/drawing/2014/main" val="707597488"/>
                  </a:ext>
                </a:extLst>
              </a:tr>
              <a:tr h="332446">
                <a:tc>
                  <a:txBody>
                    <a:bodyPr/>
                    <a:lstStyle/>
                    <a:p>
                      <a:pPr algn="l" fontAlgn="b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TC-6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F-6. </a:t>
                      </a: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Очередь заказов на комплектацию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Есть несколько подтверждённых заказов, готовых к передаче на сборку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 Открыть очередь комплектации. </a:t>
                      </a:r>
                    </a:p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 Проверить состав списка. </a:t>
                      </a:r>
                    </a:p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 Найти тестовый заказ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Подтверждённые заказы отображаются в актуальной очереди на комплектацию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036013429"/>
                  </a:ext>
                </a:extLst>
              </a:tr>
              <a:tr h="442589">
                <a:tc>
                  <a:txBody>
                    <a:bodyPr/>
                    <a:lstStyle/>
                    <a:p>
                      <a:pPr algn="l" fontAlgn="b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TC-7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F-7. </a:t>
                      </a: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Уведомление о задержке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Заказ находится в обработке; назначен ответственный сотрудник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 Смоделировать задержку обработки заказа, например нарушение установленного срока. </a:t>
                      </a:r>
                    </a:p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 Дождаться обработки условия системой. </a:t>
                      </a:r>
                    </a:p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 Проверить уведомления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Ответственный получает уведомление с номером заказа и информацией о задержке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65796862"/>
                  </a:ext>
                </a:extLst>
              </a:tr>
              <a:tr h="332446">
                <a:tc>
                  <a:txBody>
                    <a:bodyPr/>
                    <a:lstStyle/>
                    <a:p>
                      <a:pPr algn="l" fontAlgn="b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TC-8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F-8. </a:t>
                      </a: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Отображение статуса оплаты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Создан тестовый заказ; информация об оплате зарегистрирована в системе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 Открыть карточку заказа. </a:t>
                      </a:r>
                    </a:p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 Проверить поле «Статус оплаты»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 карточке заказа отображается актуальный статус оплаты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574450132"/>
                  </a:ext>
                </a:extLst>
              </a:tr>
              <a:tr h="442589">
                <a:tc>
                  <a:txBody>
                    <a:bodyPr/>
                    <a:lstStyle/>
                    <a:p>
                      <a:pPr algn="l" fontAlgn="b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TC-9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F-9. </a:t>
                      </a: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Фиксация причины отмены или возврата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Создан заказ, для которого доступна операция отмены или возврата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 Выполнить отмену/возврат заказа. </a:t>
                      </a:r>
                    </a:p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 Указать причину. </a:t>
                      </a:r>
                    </a:p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 Сохранить изменения.</a:t>
                      </a:r>
                    </a:p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 Повторно открыть заказ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Причина отмены/возврата сохранена и доступна в данных заказа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4161272256"/>
                  </a:ext>
                </a:extLst>
              </a:tr>
              <a:tr h="529307">
                <a:tc>
                  <a:txBody>
                    <a:bodyPr/>
                    <a:lstStyle/>
                    <a:p>
                      <a:pPr algn="l" fontAlgn="b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TC-10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F-10. </a:t>
                      </a: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Базовый отчёт для руководителя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 системе есть выполненные, задержанные и ошибочные заказы за тестовый период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 Открыть отчёт руководителя. </a:t>
                      </a:r>
                    </a:p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 Выбрать тестовый период. </a:t>
                      </a:r>
                    </a:p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 Сравнить показатели с данными заказов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Отчёт содержит корректные данные по заказам, задержкам и ошибкам за выбранный период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4153166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720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441CA2-C957-B2B8-70A5-DE1B3F3F0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b="1" i="0" dirty="0">
                <a:solidFill>
                  <a:srgbClr val="000000"/>
                </a:solidFill>
                <a:effectLst/>
              </a:rPr>
              <a:t>Оценка экономического эффекта и </a:t>
            </a:r>
            <a:r>
              <a:rPr lang="en" b="1" i="0" dirty="0">
                <a:solidFill>
                  <a:srgbClr val="000000"/>
                </a:solidFill>
                <a:effectLst/>
              </a:rPr>
              <a:t>ROI</a:t>
            </a:r>
            <a:endParaRPr lang="en" b="0" i="0" dirty="0">
              <a:solidFill>
                <a:srgbClr val="000000"/>
              </a:solidFill>
              <a:effectLst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5160FA3-0AC4-AD38-03BB-A1D51ACBD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041454"/>
              </p:ext>
            </p:extLst>
          </p:nvPr>
        </p:nvGraphicFramePr>
        <p:xfrm>
          <a:off x="725849" y="1853850"/>
          <a:ext cx="7687415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8829">
                  <a:extLst>
                    <a:ext uri="{9D8B030D-6E8A-4147-A177-3AD203B41FA5}">
                      <a16:colId xmlns:a16="http://schemas.microsoft.com/office/drawing/2014/main" val="3070679514"/>
                    </a:ext>
                  </a:extLst>
                </a:gridCol>
                <a:gridCol w="2668978">
                  <a:extLst>
                    <a:ext uri="{9D8B030D-6E8A-4147-A177-3AD203B41FA5}">
                      <a16:colId xmlns:a16="http://schemas.microsoft.com/office/drawing/2014/main" val="634814140"/>
                    </a:ext>
                  </a:extLst>
                </a:gridCol>
                <a:gridCol w="3149608">
                  <a:extLst>
                    <a:ext uri="{9D8B030D-6E8A-4147-A177-3AD203B41FA5}">
                      <a16:colId xmlns:a16="http://schemas.microsoft.com/office/drawing/2014/main" val="2665059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5 000 000 </a:t>
                      </a:r>
                      <a:r>
                        <a:rPr lang="ru-RU" dirty="0" err="1">
                          <a:solidFill>
                            <a:sysClr val="windowText" lastClr="000000"/>
                          </a:solidFill>
                        </a:rPr>
                        <a:t>руб</a:t>
                      </a:r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/мес.</a:t>
                      </a:r>
                    </a:p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Выручка компании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2-3% </a:t>
                      </a:r>
                    </a:p>
                    <a:p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Текущие потери от ошибок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30% </a:t>
                      </a:r>
                    </a:p>
                    <a:p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Планируемое снижение ошибок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355953"/>
                  </a:ext>
                </a:extLst>
              </a:tr>
            </a:tbl>
          </a:graphicData>
        </a:graphic>
      </p:graphicFrame>
      <p:sp>
        <p:nvSpPr>
          <p:cNvPr id="5" name="Текст 2">
            <a:extLst>
              <a:ext uri="{FF2B5EF4-FFF2-40B4-BE49-F238E27FC236}">
                <a16:creationId xmlns:a16="http://schemas.microsoft.com/office/drawing/2014/main" id="{C4A539A7-FD7F-63F4-7B6E-141579B7F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850" y="2389050"/>
            <a:ext cx="7688700" cy="1222055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При текущей выручке в 5 000 000 </a:t>
            </a:r>
            <a:r>
              <a:rPr lang="ru-RU" dirty="0" err="1"/>
              <a:t>руб</a:t>
            </a:r>
            <a:r>
              <a:rPr lang="ru-RU" dirty="0"/>
              <a:t>/</a:t>
            </a:r>
            <a:r>
              <a:rPr lang="ru-RU" dirty="0" err="1"/>
              <a:t>мес</a:t>
            </a:r>
            <a:r>
              <a:rPr lang="ru-RU" dirty="0"/>
              <a:t> и усредненном проценте ошибок в 2,5% потери в месяц составляют 125 000 </a:t>
            </a:r>
            <a:r>
              <a:rPr lang="ru-RU" dirty="0" err="1"/>
              <a:t>руб</a:t>
            </a:r>
            <a:r>
              <a:rPr lang="ru-RU" dirty="0"/>
              <a:t>;</a:t>
            </a:r>
          </a:p>
          <a:p>
            <a:r>
              <a:rPr lang="ru-RU" dirty="0"/>
              <a:t>При снижении ошибок в 30%, экономия составит 37 500 </a:t>
            </a:r>
            <a:r>
              <a:rPr lang="ru-RU" dirty="0" err="1"/>
              <a:t>руб</a:t>
            </a:r>
            <a:r>
              <a:rPr lang="ru-RU" dirty="0"/>
              <a:t>/</a:t>
            </a:r>
            <a:r>
              <a:rPr lang="ru-RU" dirty="0" err="1"/>
              <a:t>мес</a:t>
            </a:r>
            <a:r>
              <a:rPr lang="ru-RU" dirty="0"/>
              <a:t>;</a:t>
            </a:r>
          </a:p>
          <a:p>
            <a:r>
              <a:rPr lang="ru-RU" dirty="0"/>
              <a:t>Чистая экономия (после учета налога в 25%) составит 28 125 </a:t>
            </a:r>
            <a:r>
              <a:rPr lang="ru-RU" dirty="0" err="1"/>
              <a:t>руб</a:t>
            </a:r>
            <a:r>
              <a:rPr lang="ru-RU" dirty="0"/>
              <a:t>/</a:t>
            </a:r>
            <a:r>
              <a:rPr lang="ru-RU" dirty="0" err="1"/>
              <a:t>мес</a:t>
            </a:r>
            <a:endParaRPr lang="ru-RU" dirty="0"/>
          </a:p>
          <a:p>
            <a:r>
              <a:rPr lang="ru-RU" b="1" dirty="0"/>
              <a:t>Итого, годовая экономия составит 337 500 руб.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D1DAE575-5121-21C8-62A6-ACE80AC2598A}"/>
              </a:ext>
            </a:extLst>
          </p:cNvPr>
          <p:cNvSpPr txBox="1">
            <a:spLocks/>
          </p:cNvSpPr>
          <p:nvPr/>
        </p:nvSpPr>
        <p:spPr>
          <a:xfrm>
            <a:off x="724565" y="3611105"/>
            <a:ext cx="7688700" cy="1222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46050" indent="0">
              <a:buNone/>
            </a:pPr>
            <a:r>
              <a:rPr lang="ru-RU" b="1" dirty="0"/>
              <a:t>Ключевые показатели:</a:t>
            </a:r>
          </a:p>
          <a:p>
            <a:r>
              <a:rPr lang="ru-RU" dirty="0"/>
              <a:t>Чистая экономия за год – 337 500 </a:t>
            </a:r>
            <a:r>
              <a:rPr lang="ru-RU" dirty="0" err="1"/>
              <a:t>руб</a:t>
            </a:r>
            <a:r>
              <a:rPr lang="ru-RU" dirty="0"/>
              <a:t>;</a:t>
            </a:r>
          </a:p>
          <a:p>
            <a:r>
              <a:rPr lang="ru-RU" dirty="0"/>
              <a:t>Максимальная сумма инвестиций для окупаемости за год – 337 500 </a:t>
            </a:r>
            <a:r>
              <a:rPr lang="ru-RU" dirty="0" err="1"/>
              <a:t>руб</a:t>
            </a:r>
            <a:r>
              <a:rPr lang="ru-RU" dirty="0"/>
              <a:t>;</a:t>
            </a:r>
          </a:p>
          <a:p>
            <a:r>
              <a:rPr lang="ru-RU" dirty="0"/>
              <a:t>Срок окупаемости – год(12 </a:t>
            </a:r>
            <a:r>
              <a:rPr lang="ru-RU" dirty="0" err="1"/>
              <a:t>мес</a:t>
            </a:r>
            <a:r>
              <a:rPr lang="ru-RU" dirty="0"/>
              <a:t>);</a:t>
            </a:r>
          </a:p>
          <a:p>
            <a:r>
              <a:rPr lang="en-US" dirty="0"/>
              <a:t>ROI  </a:t>
            </a:r>
            <a:r>
              <a:rPr lang="ru-RU" dirty="0"/>
              <a:t>за первый год при максимальной сумме эффективности для окупаемости за год составит 0%</a:t>
            </a:r>
          </a:p>
        </p:txBody>
      </p:sp>
    </p:spTree>
    <p:extLst>
      <p:ext uri="{BB962C8B-B14F-4D97-AF65-F5344CB8AC3E}">
        <p14:creationId xmlns:p14="http://schemas.microsoft.com/office/powerpoint/2010/main" val="3991194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0DCEFA-174C-C606-B636-3108970DB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Результаты оптимизации процесса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464C9F-261B-26A5-1329-38D55C7AC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 обработки заказа сократилось;</a:t>
            </a:r>
          </a:p>
          <a:p>
            <a:r>
              <a:rPr lang="ru-RU" dirty="0"/>
              <a:t>Количество ошибок сократилось </a:t>
            </a:r>
            <a:r>
              <a:rPr lang="en-US" dirty="0"/>
              <a:t>~30%</a:t>
            </a:r>
            <a:r>
              <a:rPr lang="ru-RU" dirty="0"/>
              <a:t>;</a:t>
            </a:r>
          </a:p>
          <a:p>
            <a:r>
              <a:rPr lang="ru-RU" dirty="0"/>
              <a:t>Уменьшилось количество ручных операций за счет интеграции систем;</a:t>
            </a:r>
          </a:p>
          <a:p>
            <a:pPr marL="146050" indent="0">
              <a:buNone/>
            </a:pPr>
            <a:r>
              <a:rPr lang="ru-RU" dirty="0"/>
              <a:t>Процесс </a:t>
            </a:r>
            <a:r>
              <a:rPr lang="en-US" dirty="0"/>
              <a:t>TO BE:</a:t>
            </a:r>
          </a:p>
          <a:p>
            <a:pPr marL="146050" indent="0">
              <a:buNone/>
            </a:pPr>
            <a:r>
              <a:rPr lang="ru-RU" dirty="0"/>
              <a:t>В новом процессе:</a:t>
            </a:r>
          </a:p>
          <a:p>
            <a:r>
              <a:rPr lang="ru-RU" dirty="0"/>
              <a:t>Проведена оптимизация и интеграция систем (1С и </a:t>
            </a:r>
            <a:r>
              <a:rPr lang="en-US" dirty="0"/>
              <a:t>Bitrix24</a:t>
            </a:r>
            <a:r>
              <a:rPr lang="ru-RU" dirty="0"/>
              <a:t>);</a:t>
            </a:r>
          </a:p>
          <a:p>
            <a:r>
              <a:rPr lang="ru-RU" dirty="0"/>
              <a:t>Выстроена автоматизация операций (</a:t>
            </a:r>
            <a:r>
              <a:rPr lang="ru-RU" dirty="0" err="1"/>
              <a:t>автообновление</a:t>
            </a:r>
            <a:r>
              <a:rPr lang="ru-RU" dirty="0"/>
              <a:t> статусов, выбор склада, отправка уведомлений).</a:t>
            </a:r>
            <a:endParaRPr lang="en-US" dirty="0"/>
          </a:p>
          <a:p>
            <a:pPr marL="14605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2792772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4122</TotalTime>
  <Words>1745</Words>
  <Application>Microsoft Macintosh PowerPoint</Application>
  <PresentationFormat>Экран (16:9)</PresentationFormat>
  <Paragraphs>291</Paragraphs>
  <Slides>16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Raleway</vt:lpstr>
      <vt:lpstr>Arial</vt:lpstr>
      <vt:lpstr>Times New Roman</vt:lpstr>
      <vt:lpstr>Calibri</vt:lpstr>
      <vt:lpstr>Lato</vt:lpstr>
      <vt:lpstr>Streamline</vt:lpstr>
      <vt:lpstr>Оптимизация внутреннего процесса обработки заказов в компании онлайн-продаж бытовых товаров </vt:lpstr>
      <vt:lpstr>Цель проекта</vt:lpstr>
      <vt:lpstr>Критерии успешности</vt:lpstr>
      <vt:lpstr>Роли и участники процесса </vt:lpstr>
      <vt:lpstr>AS IS</vt:lpstr>
      <vt:lpstr>Критические точки AS IS </vt:lpstr>
      <vt:lpstr>Боли участников и ручные операции </vt:lpstr>
      <vt:lpstr>Причины проблем процесса</vt:lpstr>
      <vt:lpstr>Требования к автоматизации</vt:lpstr>
      <vt:lpstr>Требования к автоматизации (Функциональные)</vt:lpstr>
      <vt:lpstr>TO BE</vt:lpstr>
      <vt:lpstr>MVP и приоритизация требований</vt:lpstr>
      <vt:lpstr>Тест-кейсы MVP</vt:lpstr>
      <vt:lpstr>Тест-кейсы MVP</vt:lpstr>
      <vt:lpstr>Оценка экономического эффекта и ROI</vt:lpstr>
      <vt:lpstr>Результаты оптимизации процесса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Kirill Rudensky</cp:lastModifiedBy>
  <cp:revision>12</cp:revision>
  <dcterms:modified xsi:type="dcterms:W3CDTF">2026-09-10T20:45:11Z</dcterms:modified>
</cp:coreProperties>
</file>